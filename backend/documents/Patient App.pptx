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3"/>
    <p:sldId id="285" r:id="rId4"/>
    <p:sldId id="284" r:id="rId5"/>
    <p:sldId id="286" r:id="rId6"/>
    <p:sldId id="288" r:id="rId7"/>
    <p:sldId id="289" r:id="rId8"/>
    <p:sldId id="290" r:id="rId9"/>
    <p:sldId id="291" r:id="rId10"/>
    <p:sldId id="292" r:id="rId11"/>
    <p:sldId id="29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F6B"/>
    <a:srgbClr val="FF5270"/>
    <a:srgbClr val="A53010"/>
    <a:srgbClr val="FFB0B7"/>
    <a:srgbClr val="FF6C7B"/>
    <a:srgbClr val="D5BEB3"/>
    <a:srgbClr val="F3D8CC"/>
    <a:srgbClr val="FFC000"/>
    <a:srgbClr val="7F869C"/>
    <a:srgbClr val="FF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5"/>
    <p:restoredTop sz="95007"/>
  </p:normalViewPr>
  <p:slideViewPr>
    <p:cSldViewPr snapToGrid="0" snapToObjects="1">
      <p:cViewPr>
        <p:scale>
          <a:sx n="50" d="100"/>
          <a:sy n="50" d="100"/>
        </p:scale>
        <p:origin x="-1608" y="-636"/>
      </p:cViewPr>
      <p:guideLst>
        <p:guide orient="horz" pos="2121"/>
        <p:guide pos="3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81888-E104-3442-BE79-EA55FE76D16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131865-511D-A640-BEBD-5366C2F521A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1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  <p:pic>
        <p:nvPicPr>
          <p:cNvPr id="36" name="Picture 9" descr="ubq-logo.png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753" y="226326"/>
            <a:ext cx="93662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87613" y="2514598"/>
            <a:ext cx="9237027" cy="2262781"/>
          </a:xfrm>
        </p:spPr>
        <p:txBody>
          <a:bodyPr>
            <a:normAutofit/>
          </a:bodyPr>
          <a:lstStyle/>
          <a:p>
            <a:r>
              <a:rPr lang="en-US" sz="6000" dirty="0" smtClean="0">
                <a:solidFill>
                  <a:srgbClr val="C00000"/>
                </a:solidFill>
              </a:rPr>
              <a:t>medics Patient App</a:t>
            </a:r>
            <a:br>
              <a:rPr lang="en-US" dirty="0" smtClean="0"/>
            </a:b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303619" y="624110"/>
            <a:ext cx="8911687" cy="587470"/>
          </a:xfrm>
        </p:spPr>
        <p:txBody>
          <a:bodyPr>
            <a:noAutofit/>
          </a:bodyPr>
          <a:lstStyle/>
          <a:p>
            <a:r>
              <a:rPr lang="en-IN" dirty="0"/>
              <a:t>Patient</a:t>
            </a:r>
            <a:r>
              <a:rPr lang="en-IN" dirty="0" smtClean="0">
                <a:latin typeface="Arial Narrow" panose="020B0606020202030204" pitchFamily="34" charset="0"/>
              </a:rPr>
              <a:t> </a:t>
            </a:r>
            <a:r>
              <a:rPr lang="en-IN" dirty="0"/>
              <a:t>App Architecture</a:t>
            </a:r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1711987" y="3530215"/>
            <a:ext cx="1215042" cy="56230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Arial Narrow" panose="020B0606020202030204" pitchFamily="34" charset="0"/>
              </a:rPr>
              <a:t>Patient Mobile App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cxnSp>
        <p:nvCxnSpPr>
          <p:cNvPr id="6" name="Straight Arrow Connector 5"/>
          <p:cNvCxnSpPr>
            <a:stCxn id="4" idx="2"/>
            <a:endCxn id="5" idx="1"/>
          </p:cNvCxnSpPr>
          <p:nvPr/>
        </p:nvCxnSpPr>
        <p:spPr>
          <a:xfrm>
            <a:off x="2319508" y="4092518"/>
            <a:ext cx="240" cy="63599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1735327" y="4728517"/>
            <a:ext cx="1168842" cy="890546"/>
            <a:chOff x="1735327" y="5266585"/>
            <a:chExt cx="1168842" cy="890546"/>
          </a:xfrm>
        </p:grpSpPr>
        <p:sp>
          <p:nvSpPr>
            <p:cNvPr id="5" name="Can 4"/>
            <p:cNvSpPr/>
            <p:nvPr/>
          </p:nvSpPr>
          <p:spPr>
            <a:xfrm>
              <a:off x="1735327" y="5266585"/>
              <a:ext cx="1168842" cy="890546"/>
            </a:xfrm>
            <a:prstGeom prst="ca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95459" y="5631848"/>
              <a:ext cx="10163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 smtClean="0">
                  <a:latin typeface="Arial Narrow" panose="020B0606020202030204" pitchFamily="34" charset="0"/>
                </a:rPr>
                <a:t>Local </a:t>
              </a:r>
              <a:r>
                <a:rPr lang="en-IN" sz="1400" dirty="0" smtClean="0">
                  <a:latin typeface="Arial Narrow" panose="020B0606020202030204" pitchFamily="34" charset="0"/>
                </a:rPr>
                <a:t>Store</a:t>
              </a:r>
              <a:endParaRPr lang="en-IN" sz="1400" dirty="0" smtClean="0">
                <a:latin typeface="Arial Narrow" panose="020B0606020202030204" pitchFamily="34" charset="0"/>
              </a:endParaRPr>
            </a:p>
            <a:p>
              <a:pPr algn="ctr"/>
              <a:r>
                <a:rPr lang="en-IN" sz="1400" dirty="0" err="1" smtClean="0">
                  <a:latin typeface="Arial Narrow" panose="020B0606020202030204" pitchFamily="34" charset="0"/>
                </a:rPr>
                <a:t>SqlLite</a:t>
              </a:r>
              <a:endParaRPr lang="en-IN" sz="1400" dirty="0">
                <a:latin typeface="Arial Narrow" panose="020B0606020202030204" pitchFamily="34" charset="0"/>
              </a:endParaRPr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3947209" y="1360170"/>
            <a:ext cx="0" cy="517541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68683" y="3356861"/>
            <a:ext cx="1215042" cy="913081"/>
          </a:xfrm>
          <a:prstGeom prst="roundRect">
            <a:avLst/>
          </a:prstGeom>
          <a:solidFill>
            <a:srgbClr val="4E98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Arial Narrow" panose="020B0606020202030204" pitchFamily="34" charset="0"/>
              </a:rPr>
              <a:t>Node.js Server for Patient  App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cxnSp>
        <p:nvCxnSpPr>
          <p:cNvPr id="14" name="Straight Arrow Connector 13"/>
          <p:cNvCxnSpPr>
            <a:stCxn id="12" idx="2"/>
            <a:endCxn id="13" idx="1"/>
          </p:cNvCxnSpPr>
          <p:nvPr/>
        </p:nvCxnSpPr>
        <p:spPr>
          <a:xfrm flipH="1">
            <a:off x="5166752" y="4269942"/>
            <a:ext cx="9452" cy="58140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4582331" y="4851349"/>
            <a:ext cx="1168842" cy="890546"/>
            <a:chOff x="5042407" y="5266585"/>
            <a:chExt cx="1168842" cy="890546"/>
          </a:xfrm>
        </p:grpSpPr>
        <p:sp>
          <p:nvSpPr>
            <p:cNvPr id="13" name="Can 12"/>
            <p:cNvSpPr/>
            <p:nvPr/>
          </p:nvSpPr>
          <p:spPr>
            <a:xfrm>
              <a:off x="5042407" y="5266585"/>
              <a:ext cx="1168842" cy="890546"/>
            </a:xfrm>
            <a:prstGeom prst="ca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02539" y="5631848"/>
              <a:ext cx="1016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 smtClean="0">
                  <a:latin typeface="Arial Narrow" panose="020B0606020202030204" pitchFamily="34" charset="0"/>
                </a:rPr>
                <a:t>Mongo </a:t>
              </a:r>
              <a:r>
                <a:rPr lang="en-IN" sz="1400" dirty="0" err="1" smtClean="0">
                  <a:latin typeface="Arial Narrow" panose="020B0606020202030204" pitchFamily="34" charset="0"/>
                </a:rPr>
                <a:t>db</a:t>
              </a:r>
              <a:endParaRPr lang="en-IN" sz="1400" dirty="0">
                <a:latin typeface="Arial Narrow" panose="020B0606020202030204" pitchFamily="34" charset="0"/>
              </a:endParaRPr>
            </a:p>
          </p:txBody>
        </p:sp>
      </p:grpSp>
      <p:cxnSp>
        <p:nvCxnSpPr>
          <p:cNvPr id="16" name="Straight Arrow Connector 15"/>
          <p:cNvCxnSpPr>
            <a:stCxn id="4" idx="3"/>
            <a:endCxn id="12" idx="1"/>
          </p:cNvCxnSpPr>
          <p:nvPr/>
        </p:nvCxnSpPr>
        <p:spPr>
          <a:xfrm>
            <a:off x="2927029" y="3811367"/>
            <a:ext cx="1641654" cy="203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10630884" y="1529934"/>
            <a:ext cx="1168842" cy="899554"/>
            <a:chOff x="10335770" y="1557896"/>
            <a:chExt cx="1168842" cy="899554"/>
          </a:xfrm>
        </p:grpSpPr>
        <p:sp>
          <p:nvSpPr>
            <p:cNvPr id="20" name="Can 19"/>
            <p:cNvSpPr/>
            <p:nvPr/>
          </p:nvSpPr>
          <p:spPr>
            <a:xfrm>
              <a:off x="10335770" y="1557896"/>
              <a:ext cx="1168842" cy="899554"/>
            </a:xfrm>
            <a:prstGeom prst="ca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12030" y="1917098"/>
              <a:ext cx="1016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 smtClean="0">
                  <a:latin typeface="Arial Narrow" panose="020B0606020202030204" pitchFamily="34" charset="0"/>
                </a:rPr>
                <a:t>medics 5.0</a:t>
              </a:r>
              <a:endParaRPr lang="en-IN" sz="1400" dirty="0">
                <a:latin typeface="Arial Narrow" panose="020B0606020202030204" pitchFamily="34" charset="0"/>
              </a:endParaRPr>
            </a:p>
          </p:txBody>
        </p:sp>
      </p:grpSp>
      <p:cxnSp>
        <p:nvCxnSpPr>
          <p:cNvPr id="26" name="Straight Arrow Connector 25"/>
          <p:cNvCxnSpPr>
            <a:endCxn id="39" idx="1"/>
          </p:cNvCxnSpPr>
          <p:nvPr/>
        </p:nvCxnSpPr>
        <p:spPr>
          <a:xfrm flipV="1">
            <a:off x="5783725" y="1985552"/>
            <a:ext cx="2091034" cy="158907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/>
          <p:cNvGrpSpPr/>
          <p:nvPr/>
        </p:nvGrpSpPr>
        <p:grpSpPr>
          <a:xfrm>
            <a:off x="10630884" y="2852492"/>
            <a:ext cx="1168842" cy="899554"/>
            <a:chOff x="10335770" y="1557896"/>
            <a:chExt cx="1168842" cy="899554"/>
          </a:xfrm>
        </p:grpSpPr>
        <p:sp>
          <p:nvSpPr>
            <p:cNvPr id="29" name="Can 28"/>
            <p:cNvSpPr/>
            <p:nvPr/>
          </p:nvSpPr>
          <p:spPr>
            <a:xfrm>
              <a:off x="10335770" y="1557896"/>
              <a:ext cx="1168842" cy="899554"/>
            </a:xfrm>
            <a:prstGeom prst="ca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412030" y="1917098"/>
              <a:ext cx="1016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Arial Narrow" panose="020B0606020202030204" pitchFamily="34" charset="0"/>
                </a:rPr>
                <a:t>m</a:t>
              </a:r>
              <a:r>
                <a:rPr lang="en-IN" sz="1400" dirty="0" smtClean="0">
                  <a:latin typeface="Arial Narrow" panose="020B0606020202030204" pitchFamily="34" charset="0"/>
                </a:rPr>
                <a:t>edics 4.0</a:t>
              </a:r>
              <a:endParaRPr lang="en-IN" sz="1400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0630884" y="4218443"/>
            <a:ext cx="1168842" cy="899554"/>
            <a:chOff x="10335770" y="1557896"/>
            <a:chExt cx="1168842" cy="899554"/>
          </a:xfrm>
        </p:grpSpPr>
        <p:sp>
          <p:nvSpPr>
            <p:cNvPr id="36" name="Can 35"/>
            <p:cNvSpPr/>
            <p:nvPr/>
          </p:nvSpPr>
          <p:spPr>
            <a:xfrm>
              <a:off x="10335770" y="1557896"/>
              <a:ext cx="1168842" cy="899554"/>
            </a:xfrm>
            <a:prstGeom prst="ca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412030" y="1917098"/>
              <a:ext cx="1016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 err="1" smtClean="0">
                  <a:latin typeface="Arial Narrow" panose="020B0606020202030204" pitchFamily="34" charset="0"/>
                </a:rPr>
                <a:t>mediceasy</a:t>
              </a:r>
              <a:endParaRPr lang="en-IN" sz="1400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874759" y="1418784"/>
            <a:ext cx="1637730" cy="1133535"/>
            <a:chOff x="8407022" y="1719618"/>
            <a:chExt cx="1637730" cy="1133535"/>
          </a:xfrm>
        </p:grpSpPr>
        <p:sp>
          <p:nvSpPr>
            <p:cNvPr id="39" name="Rounded Rectangle 38"/>
            <p:cNvSpPr/>
            <p:nvPr/>
          </p:nvSpPr>
          <p:spPr>
            <a:xfrm>
              <a:off x="8407022" y="1719618"/>
              <a:ext cx="1637730" cy="1133535"/>
            </a:xfrm>
            <a:prstGeom prst="roundRect">
              <a:avLst/>
            </a:prstGeom>
            <a:solidFill>
              <a:srgbClr val="4E98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Arial Narrow" panose="020B0606020202030204" pitchFamily="34" charset="0"/>
                </a:rPr>
                <a:t>medics 5.0 App</a:t>
              </a:r>
              <a:endParaRPr lang="en-US" sz="1400" dirty="0" smtClean="0">
                <a:latin typeface="Arial Narrow" panose="020B0606020202030204" pitchFamily="34" charset="0"/>
              </a:endParaRPr>
            </a:p>
            <a:p>
              <a:pPr algn="ctr"/>
              <a:endParaRPr lang="en-US" sz="1400" dirty="0">
                <a:latin typeface="Arial Narrow" panose="020B0606020202030204" pitchFamily="34" charset="0"/>
              </a:endParaRPr>
            </a:p>
            <a:p>
              <a:pPr algn="ctr"/>
              <a:endParaRPr lang="en-US" sz="1400" dirty="0">
                <a:latin typeface="Arial Narrow" panose="020B0606020202030204" pitchFamily="34" charset="0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527601" y="2348207"/>
              <a:ext cx="821113" cy="417148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Arial Narrow" panose="020B0606020202030204" pitchFamily="34" charset="0"/>
                </a:rPr>
                <a:t>API</a:t>
              </a:r>
              <a:endParaRPr lang="en-US" sz="1400" dirty="0" smtClean="0">
                <a:latin typeface="Arial Narrow" panose="020B0606020202030204" pitchFamily="34" charset="0"/>
              </a:endParaRPr>
            </a:p>
            <a:p>
              <a:pPr algn="ctr"/>
              <a:r>
                <a:rPr lang="en-US" sz="1400" dirty="0">
                  <a:latin typeface="Arial Narrow" panose="020B0606020202030204" pitchFamily="34" charset="0"/>
                </a:rPr>
                <a:t>Handlers</a:t>
              </a:r>
              <a:endParaRPr lang="en-US" sz="1400" dirty="0">
                <a:latin typeface="Arial Narrow" panose="020B0606020202030204" pitchFamily="34" charset="0"/>
              </a:endParaRPr>
            </a:p>
          </p:txBody>
        </p:sp>
      </p:grpSp>
      <p:cxnSp>
        <p:nvCxnSpPr>
          <p:cNvPr id="42" name="Straight Arrow Connector 41"/>
          <p:cNvCxnSpPr>
            <a:stCxn id="39" idx="3"/>
            <a:endCxn id="20" idx="2"/>
          </p:cNvCxnSpPr>
          <p:nvPr/>
        </p:nvCxnSpPr>
        <p:spPr>
          <a:xfrm flipV="1">
            <a:off x="9512489" y="1979711"/>
            <a:ext cx="1118395" cy="584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7874759" y="4101452"/>
            <a:ext cx="1637730" cy="1133535"/>
            <a:chOff x="8407022" y="1719618"/>
            <a:chExt cx="1637730" cy="1133535"/>
          </a:xfrm>
        </p:grpSpPr>
        <p:sp>
          <p:nvSpPr>
            <p:cNvPr id="48" name="Rounded Rectangle 47"/>
            <p:cNvSpPr/>
            <p:nvPr/>
          </p:nvSpPr>
          <p:spPr>
            <a:xfrm>
              <a:off x="8407022" y="1719618"/>
              <a:ext cx="1637730" cy="1133535"/>
            </a:xfrm>
            <a:prstGeom prst="roundRect">
              <a:avLst/>
            </a:prstGeom>
            <a:solidFill>
              <a:srgbClr val="4E98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>
                  <a:latin typeface="Arial Narrow" panose="020B0606020202030204" pitchFamily="34" charset="0"/>
                </a:rPr>
                <a:t>medicseasy</a:t>
              </a:r>
              <a:r>
                <a:rPr lang="en-US" sz="1400" dirty="0" smtClean="0">
                  <a:latin typeface="Arial Narrow" panose="020B0606020202030204" pitchFamily="34" charset="0"/>
                </a:rPr>
                <a:t> App</a:t>
              </a:r>
              <a:endParaRPr lang="en-US" sz="1400" dirty="0" smtClean="0">
                <a:latin typeface="Arial Narrow" panose="020B0606020202030204" pitchFamily="34" charset="0"/>
              </a:endParaRPr>
            </a:p>
            <a:p>
              <a:pPr algn="ctr"/>
              <a:endParaRPr lang="en-US" sz="1400" dirty="0">
                <a:latin typeface="Arial Narrow" panose="020B0606020202030204" pitchFamily="34" charset="0"/>
              </a:endParaRPr>
            </a:p>
            <a:p>
              <a:pPr algn="ctr"/>
              <a:endParaRPr lang="en-US" sz="1400" dirty="0">
                <a:latin typeface="Arial Narrow" panose="020B0606020202030204" pitchFamily="34" charset="0"/>
              </a:endParaRP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8527601" y="2348207"/>
              <a:ext cx="821113" cy="417148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6020202030204" pitchFamily="34" charset="0"/>
                </a:rPr>
                <a:t>API</a:t>
              </a:r>
              <a:endParaRPr lang="en-US" sz="1400" dirty="0">
                <a:latin typeface="Arial Narrow" panose="020B0606020202030204" pitchFamily="34" charset="0"/>
              </a:endParaRPr>
            </a:p>
            <a:p>
              <a:pPr algn="ctr"/>
              <a:r>
                <a:rPr lang="en-US" sz="1400" dirty="0">
                  <a:latin typeface="Arial Narrow" panose="020B0606020202030204" pitchFamily="34" charset="0"/>
                </a:rPr>
                <a:t>Handlers</a:t>
              </a:r>
              <a:endParaRPr lang="en-US" sz="1400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7874759" y="2737459"/>
            <a:ext cx="1637730" cy="1133535"/>
            <a:chOff x="8407022" y="1719618"/>
            <a:chExt cx="1637730" cy="1133535"/>
          </a:xfrm>
        </p:grpSpPr>
        <p:sp>
          <p:nvSpPr>
            <p:cNvPr id="51" name="Rounded Rectangle 50"/>
            <p:cNvSpPr/>
            <p:nvPr/>
          </p:nvSpPr>
          <p:spPr>
            <a:xfrm>
              <a:off x="8407022" y="1719618"/>
              <a:ext cx="1637730" cy="1133535"/>
            </a:xfrm>
            <a:prstGeom prst="roundRect">
              <a:avLst/>
            </a:prstGeom>
            <a:solidFill>
              <a:srgbClr val="4E98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Arial Narrow" panose="020B0606020202030204" pitchFamily="34" charset="0"/>
                </a:rPr>
                <a:t>medics 4.0 App</a:t>
              </a:r>
              <a:endParaRPr lang="en-US" sz="1400" dirty="0" smtClean="0">
                <a:latin typeface="Arial Narrow" panose="020B0606020202030204" pitchFamily="34" charset="0"/>
              </a:endParaRPr>
            </a:p>
            <a:p>
              <a:pPr algn="ctr"/>
              <a:endParaRPr lang="en-US" sz="1400" dirty="0">
                <a:latin typeface="Arial Narrow" panose="020B0606020202030204" pitchFamily="34" charset="0"/>
              </a:endParaRPr>
            </a:p>
            <a:p>
              <a:pPr algn="ctr"/>
              <a:endParaRPr lang="en-US" sz="1400" dirty="0">
                <a:latin typeface="Arial Narrow" panose="020B0606020202030204" pitchFamily="34" charset="0"/>
              </a:endParaRP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8527601" y="2348207"/>
              <a:ext cx="821113" cy="417148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6020202030204" pitchFamily="34" charset="0"/>
                </a:rPr>
                <a:t>API</a:t>
              </a:r>
              <a:endParaRPr lang="en-US" sz="1400" dirty="0">
                <a:latin typeface="Arial Narrow" panose="020B0606020202030204" pitchFamily="34" charset="0"/>
              </a:endParaRPr>
            </a:p>
            <a:p>
              <a:pPr algn="ctr"/>
              <a:r>
                <a:rPr lang="en-US" sz="1400" dirty="0">
                  <a:latin typeface="Arial Narrow" panose="020B0606020202030204" pitchFamily="34" charset="0"/>
                </a:rPr>
                <a:t>Handlers</a:t>
              </a:r>
              <a:endParaRPr lang="en-US" sz="1400" dirty="0">
                <a:latin typeface="Arial Narrow" panose="020B0606020202030204" pitchFamily="34" charset="0"/>
              </a:endParaRPr>
            </a:p>
          </p:txBody>
        </p:sp>
      </p:grpSp>
      <p:cxnSp>
        <p:nvCxnSpPr>
          <p:cNvPr id="53" name="Straight Arrow Connector 52"/>
          <p:cNvCxnSpPr>
            <a:stCxn id="51" idx="3"/>
            <a:endCxn id="29" idx="2"/>
          </p:cNvCxnSpPr>
          <p:nvPr/>
        </p:nvCxnSpPr>
        <p:spPr>
          <a:xfrm flipV="1">
            <a:off x="9512489" y="3302269"/>
            <a:ext cx="1118395" cy="195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8" idx="3"/>
            <a:endCxn id="36" idx="2"/>
          </p:cNvCxnSpPr>
          <p:nvPr/>
        </p:nvCxnSpPr>
        <p:spPr>
          <a:xfrm>
            <a:off x="9512489" y="4668220"/>
            <a:ext cx="1118395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endCxn id="51" idx="1"/>
          </p:cNvCxnSpPr>
          <p:nvPr/>
        </p:nvCxnSpPr>
        <p:spPr>
          <a:xfrm flipV="1">
            <a:off x="5783725" y="3304227"/>
            <a:ext cx="2091034" cy="44782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endCxn id="48" idx="1"/>
          </p:cNvCxnSpPr>
          <p:nvPr/>
        </p:nvCxnSpPr>
        <p:spPr>
          <a:xfrm>
            <a:off x="5783725" y="3947878"/>
            <a:ext cx="2091034" cy="72034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/>
          <p:cNvGrpSpPr/>
          <p:nvPr/>
        </p:nvGrpSpPr>
        <p:grpSpPr>
          <a:xfrm>
            <a:off x="10630884" y="5596441"/>
            <a:ext cx="1168842" cy="899554"/>
            <a:chOff x="10335770" y="1557896"/>
            <a:chExt cx="1168842" cy="899554"/>
          </a:xfrm>
        </p:grpSpPr>
        <p:sp>
          <p:nvSpPr>
            <p:cNvPr id="70" name="Can 69"/>
            <p:cNvSpPr/>
            <p:nvPr/>
          </p:nvSpPr>
          <p:spPr>
            <a:xfrm>
              <a:off x="10335770" y="1557896"/>
              <a:ext cx="1168842" cy="899554"/>
            </a:xfrm>
            <a:prstGeom prst="ca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0412030" y="1917098"/>
              <a:ext cx="1016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 smtClean="0">
                  <a:latin typeface="Arial Narrow" panose="020B0606020202030204" pitchFamily="34" charset="0"/>
                </a:rPr>
                <a:t>medics 4.3</a:t>
              </a:r>
              <a:endParaRPr lang="en-IN" sz="1400" dirty="0" smtClean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7874759" y="5479450"/>
            <a:ext cx="1637730" cy="1133535"/>
            <a:chOff x="8407022" y="1719618"/>
            <a:chExt cx="1637730" cy="1133535"/>
          </a:xfrm>
        </p:grpSpPr>
        <p:sp>
          <p:nvSpPr>
            <p:cNvPr id="73" name="Rounded Rectangle 72"/>
            <p:cNvSpPr/>
            <p:nvPr/>
          </p:nvSpPr>
          <p:spPr>
            <a:xfrm>
              <a:off x="8407022" y="1719618"/>
              <a:ext cx="1637730" cy="1133535"/>
            </a:xfrm>
            <a:prstGeom prst="roundRect">
              <a:avLst/>
            </a:prstGeom>
            <a:solidFill>
              <a:srgbClr val="4E98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Arial Narrow" panose="020B0606020202030204" pitchFamily="34" charset="0"/>
                </a:rPr>
                <a:t>medics  4.3 App</a:t>
              </a:r>
              <a:endParaRPr lang="en-US" sz="1400" dirty="0" smtClean="0">
                <a:latin typeface="Arial Narrow" panose="020B0606020202030204" pitchFamily="34" charset="0"/>
              </a:endParaRPr>
            </a:p>
            <a:p>
              <a:pPr algn="ctr"/>
              <a:endParaRPr lang="en-US" sz="1400" dirty="0">
                <a:latin typeface="Arial Narrow" panose="020B0606020202030204" pitchFamily="34" charset="0"/>
              </a:endParaRPr>
            </a:p>
            <a:p>
              <a:pPr algn="ctr"/>
              <a:endParaRPr lang="en-US" sz="1400" dirty="0">
                <a:latin typeface="Arial Narrow" panose="020B0606020202030204" pitchFamily="34" charset="0"/>
              </a:endParaRP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527601" y="2348207"/>
              <a:ext cx="821113" cy="417148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Narrow" panose="020B0606020202030204" pitchFamily="34" charset="0"/>
                </a:rPr>
                <a:t>API</a:t>
              </a:r>
              <a:endParaRPr lang="en-US" sz="1400" dirty="0">
                <a:latin typeface="Arial Narrow" panose="020B0606020202030204" pitchFamily="34" charset="0"/>
              </a:endParaRPr>
            </a:p>
            <a:p>
              <a:pPr algn="ctr"/>
              <a:r>
                <a:rPr lang="en-US" sz="1400" dirty="0">
                  <a:latin typeface="Arial Narrow" panose="020B0606020202030204" pitchFamily="34" charset="0"/>
                </a:rPr>
                <a:t>Handlers</a:t>
              </a:r>
              <a:endParaRPr lang="en-US" sz="1400" dirty="0">
                <a:latin typeface="Arial Narrow" panose="020B0606020202030204" pitchFamily="34" charset="0"/>
              </a:endParaRPr>
            </a:p>
          </p:txBody>
        </p:sp>
      </p:grpSp>
      <p:cxnSp>
        <p:nvCxnSpPr>
          <p:cNvPr id="75" name="Straight Arrow Connector 74"/>
          <p:cNvCxnSpPr>
            <a:stCxn id="73" idx="3"/>
            <a:endCxn id="70" idx="2"/>
          </p:cNvCxnSpPr>
          <p:nvPr/>
        </p:nvCxnSpPr>
        <p:spPr>
          <a:xfrm>
            <a:off x="9512489" y="6046218"/>
            <a:ext cx="1118395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73" idx="1"/>
          </p:cNvCxnSpPr>
          <p:nvPr/>
        </p:nvCxnSpPr>
        <p:spPr>
          <a:xfrm>
            <a:off x="5783725" y="4101452"/>
            <a:ext cx="2091034" cy="194476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328459" y="1365383"/>
            <a:ext cx="0" cy="517541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35327" y="1529934"/>
            <a:ext cx="137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Layer 1</a:t>
            </a:r>
            <a:endParaRPr lang="en-IN" dirty="0"/>
          </a:p>
        </p:txBody>
      </p:sp>
      <p:sp>
        <p:nvSpPr>
          <p:cNvPr id="55" name="TextBox 54"/>
          <p:cNvSpPr txBox="1"/>
          <p:nvPr/>
        </p:nvSpPr>
        <p:spPr>
          <a:xfrm>
            <a:off x="4377540" y="1519804"/>
            <a:ext cx="137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Layer 2</a:t>
            </a:r>
            <a:endParaRPr lang="en-IN" dirty="0"/>
          </a:p>
        </p:txBody>
      </p:sp>
      <p:sp>
        <p:nvSpPr>
          <p:cNvPr id="57" name="TextBox 56"/>
          <p:cNvSpPr txBox="1"/>
          <p:nvPr/>
        </p:nvSpPr>
        <p:spPr>
          <a:xfrm>
            <a:off x="8157110" y="797304"/>
            <a:ext cx="137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Layer 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21760"/>
          </a:xfrm>
        </p:spPr>
        <p:txBody>
          <a:bodyPr>
            <a:normAutofit fontScale="90000"/>
          </a:bodyPr>
          <a:lstStyle/>
          <a:p>
            <a:r>
              <a:rPr lang="en-IN" sz="4000" dirty="0" smtClean="0"/>
              <a:t>User Profile &amp; Family Member APIs</a:t>
            </a:r>
            <a:endParaRPr lang="en-IN" dirty="0"/>
          </a:p>
        </p:txBody>
      </p:sp>
      <p:sp>
        <p:nvSpPr>
          <p:cNvPr id="4" name="Content Placeholder 2"/>
          <p:cNvSpPr txBox="1"/>
          <p:nvPr/>
        </p:nvSpPr>
        <p:spPr>
          <a:xfrm>
            <a:off x="1809750" y="1520190"/>
            <a:ext cx="4686300" cy="4391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User Registration</a:t>
            </a:r>
            <a:endParaRPr lang="en-IN" dirty="0" smtClean="0"/>
          </a:p>
          <a:p>
            <a:pPr lvl="1"/>
            <a:r>
              <a:rPr lang="en-IN" dirty="0" smtClean="0"/>
              <a:t>Sign-Up</a:t>
            </a:r>
            <a:endParaRPr lang="en-IN" dirty="0" smtClean="0"/>
          </a:p>
          <a:p>
            <a:pPr lvl="2"/>
            <a:r>
              <a:rPr lang="en-IN" dirty="0" smtClean="0"/>
              <a:t>Create Profile</a:t>
            </a:r>
            <a:endParaRPr lang="en-IN" dirty="0" smtClean="0"/>
          </a:p>
          <a:p>
            <a:pPr lvl="2"/>
            <a:r>
              <a:rPr lang="en-IN" dirty="0" smtClean="0"/>
              <a:t>Resend OTP</a:t>
            </a:r>
            <a:endParaRPr lang="en-IN" dirty="0" smtClean="0"/>
          </a:p>
          <a:p>
            <a:pPr lvl="2"/>
            <a:r>
              <a:rPr lang="en-IN" dirty="0" smtClean="0"/>
              <a:t>OTP Verification</a:t>
            </a:r>
            <a:endParaRPr lang="en-IN" dirty="0" smtClean="0"/>
          </a:p>
          <a:p>
            <a:pPr lvl="2"/>
            <a:r>
              <a:rPr lang="en-IN" dirty="0" smtClean="0"/>
              <a:t>Update Profile</a:t>
            </a:r>
            <a:endParaRPr lang="en-IN" dirty="0" smtClean="0"/>
          </a:p>
          <a:p>
            <a:pPr lvl="1"/>
            <a:r>
              <a:rPr lang="en-IN" dirty="0" smtClean="0"/>
              <a:t>Sign-In</a:t>
            </a:r>
            <a:endParaRPr lang="en-IN" dirty="0" smtClean="0"/>
          </a:p>
          <a:p>
            <a:pPr lvl="2"/>
            <a:r>
              <a:rPr lang="en-IN" dirty="0" smtClean="0"/>
              <a:t>Get OTP</a:t>
            </a:r>
            <a:endParaRPr lang="en-IN" dirty="0" smtClean="0"/>
          </a:p>
          <a:p>
            <a:pPr lvl="2"/>
            <a:r>
              <a:rPr lang="en-IN" dirty="0"/>
              <a:t>OTP </a:t>
            </a:r>
            <a:r>
              <a:rPr lang="en-IN" dirty="0" smtClean="0"/>
              <a:t>Verification</a:t>
            </a:r>
            <a:endParaRPr lang="en-IN" dirty="0" smtClean="0"/>
          </a:p>
          <a:p>
            <a:r>
              <a:rPr lang="en-US" dirty="0" smtClean="0"/>
              <a:t>Family member</a:t>
            </a:r>
            <a:endParaRPr lang="en-US" dirty="0" smtClean="0"/>
          </a:p>
          <a:p>
            <a:pPr lvl="1"/>
            <a:r>
              <a:rPr lang="en-US" dirty="0" smtClean="0"/>
              <a:t>Adding Family Member</a:t>
            </a:r>
            <a:endParaRPr lang="en-US" dirty="0" smtClean="0"/>
          </a:p>
          <a:p>
            <a:pPr lvl="1"/>
            <a:r>
              <a:rPr lang="en-US" dirty="0" smtClean="0"/>
              <a:t>Deleting Family </a:t>
            </a:r>
            <a:r>
              <a:rPr lang="en-US" dirty="0"/>
              <a:t>Member</a:t>
            </a:r>
            <a:endParaRPr lang="en-US" dirty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21760"/>
          </a:xfrm>
        </p:spPr>
        <p:txBody>
          <a:bodyPr>
            <a:normAutofit fontScale="90000"/>
          </a:bodyPr>
          <a:lstStyle/>
          <a:p>
            <a:r>
              <a:rPr lang="en-IN" sz="4000" dirty="0" smtClean="0"/>
              <a:t>Appointment APIs</a:t>
            </a:r>
            <a:endParaRPr lang="en-IN" dirty="0"/>
          </a:p>
        </p:txBody>
      </p:sp>
      <p:sp>
        <p:nvSpPr>
          <p:cNvPr id="4" name="Content Placeholder 2"/>
          <p:cNvSpPr txBox="1"/>
          <p:nvPr/>
        </p:nvSpPr>
        <p:spPr>
          <a:xfrm>
            <a:off x="1809750" y="1520190"/>
            <a:ext cx="4686300" cy="4391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Appointment</a:t>
            </a:r>
            <a:endParaRPr lang="en-US" dirty="0" smtClean="0"/>
          </a:p>
          <a:p>
            <a:pPr lvl="1"/>
            <a:r>
              <a:rPr lang="en-US" dirty="0" smtClean="0"/>
              <a:t>Get Hospitals</a:t>
            </a:r>
            <a:endParaRPr lang="en-US" dirty="0" smtClean="0"/>
          </a:p>
          <a:p>
            <a:pPr lvl="1"/>
            <a:r>
              <a:rPr lang="en-US" dirty="0" smtClean="0"/>
              <a:t>Get Specialty</a:t>
            </a:r>
            <a:endParaRPr lang="en-US" dirty="0" smtClean="0"/>
          </a:p>
          <a:p>
            <a:pPr lvl="1"/>
            <a:r>
              <a:rPr lang="en-US" dirty="0" smtClean="0"/>
              <a:t>Get Doctor</a:t>
            </a:r>
            <a:endParaRPr lang="en-US" dirty="0" smtClean="0"/>
          </a:p>
          <a:p>
            <a:pPr lvl="1"/>
            <a:r>
              <a:rPr lang="en-US" dirty="0" smtClean="0"/>
              <a:t>Get Free Slots</a:t>
            </a:r>
            <a:endParaRPr lang="en-US" dirty="0" smtClean="0"/>
          </a:p>
          <a:p>
            <a:pPr lvl="1"/>
            <a:r>
              <a:rPr lang="en-US" dirty="0"/>
              <a:t>Book Appointment </a:t>
            </a:r>
            <a:endParaRPr lang="en-US" dirty="0" smtClean="0"/>
          </a:p>
          <a:p>
            <a:pPr lvl="1"/>
            <a:r>
              <a:rPr lang="en-US" dirty="0" smtClean="0"/>
              <a:t>Appointment Re-Schedule</a:t>
            </a:r>
            <a:endParaRPr lang="en-US" dirty="0" smtClean="0"/>
          </a:p>
          <a:p>
            <a:pPr lvl="1"/>
            <a:r>
              <a:rPr lang="en-US" dirty="0" smtClean="0"/>
              <a:t>Appointment Cancellation</a:t>
            </a:r>
            <a:endParaRPr lang="en-US" dirty="0" smtClean="0"/>
          </a:p>
          <a:p>
            <a:pPr lvl="1"/>
            <a:r>
              <a:rPr lang="en-US" dirty="0" smtClean="0"/>
              <a:t>Get Up-coming Appointments</a:t>
            </a:r>
            <a:endParaRPr lang="en-US" dirty="0" smtClean="0"/>
          </a:p>
          <a:p>
            <a:r>
              <a:rPr lang="en-US" dirty="0" smtClean="0"/>
              <a:t>Get Notifications &amp; Reminders</a:t>
            </a:r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21760"/>
          </a:xfrm>
        </p:spPr>
        <p:txBody>
          <a:bodyPr>
            <a:normAutofit fontScale="90000"/>
          </a:bodyPr>
          <a:lstStyle/>
          <a:p>
            <a:r>
              <a:rPr lang="en-IN" sz="4000" dirty="0" smtClean="0"/>
              <a:t>Visit Record APIs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4510" y="1623060"/>
            <a:ext cx="4686300" cy="4391032"/>
          </a:xfrm>
        </p:spPr>
        <p:txBody>
          <a:bodyPr>
            <a:normAutofit/>
          </a:bodyPr>
          <a:lstStyle/>
          <a:p>
            <a:r>
              <a:rPr lang="en-US" dirty="0" smtClean="0"/>
              <a:t>Get Patient Visits</a:t>
            </a:r>
            <a:endParaRPr lang="en-US" dirty="0" smtClean="0"/>
          </a:p>
          <a:p>
            <a:r>
              <a:rPr lang="en-US" dirty="0" smtClean="0"/>
              <a:t>Get Active Prescriptions</a:t>
            </a:r>
            <a:endParaRPr lang="en-US" dirty="0" smtClean="0"/>
          </a:p>
          <a:p>
            <a:r>
              <a:rPr lang="en-US" dirty="0" smtClean="0"/>
              <a:t>Get Visit Record</a:t>
            </a:r>
            <a:endParaRPr lang="en-US" dirty="0" smtClean="0"/>
          </a:p>
          <a:p>
            <a:pPr lvl="1"/>
            <a:r>
              <a:rPr lang="en-US" dirty="0" smtClean="0"/>
              <a:t>Demographics</a:t>
            </a:r>
            <a:endParaRPr lang="en-US" dirty="0" smtClean="0"/>
          </a:p>
          <a:p>
            <a:pPr lvl="1"/>
            <a:r>
              <a:rPr lang="en-US" dirty="0" smtClean="0"/>
              <a:t>Chronic </a:t>
            </a:r>
            <a:r>
              <a:rPr lang="en-US" dirty="0"/>
              <a:t>Illnesses</a:t>
            </a:r>
            <a:endParaRPr lang="en-US" dirty="0"/>
          </a:p>
          <a:p>
            <a:pPr lvl="1"/>
            <a:r>
              <a:rPr lang="en-US" dirty="0" smtClean="0"/>
              <a:t>Allergies</a:t>
            </a:r>
            <a:endParaRPr lang="en-US" dirty="0"/>
          </a:p>
          <a:p>
            <a:pPr lvl="1"/>
            <a:r>
              <a:rPr lang="en-US" dirty="0" smtClean="0"/>
              <a:t>Medical </a:t>
            </a:r>
            <a:r>
              <a:rPr lang="en-US" dirty="0"/>
              <a:t>History</a:t>
            </a:r>
            <a:endParaRPr lang="en-US" dirty="0"/>
          </a:p>
          <a:p>
            <a:pPr lvl="1"/>
            <a:r>
              <a:rPr lang="en-US" dirty="0" smtClean="0"/>
              <a:t>Previous / </a:t>
            </a:r>
            <a:r>
              <a:rPr lang="en-US" dirty="0"/>
              <a:t>Current Prescription</a:t>
            </a:r>
            <a:endParaRPr lang="en-US" dirty="0"/>
          </a:p>
          <a:p>
            <a:pPr lvl="1"/>
            <a:r>
              <a:rPr lang="en-US" dirty="0" smtClean="0"/>
              <a:t>Diagnosis</a:t>
            </a:r>
            <a:endParaRPr lang="en-US" dirty="0" smtClean="0"/>
          </a:p>
          <a:p>
            <a:pPr lvl="1"/>
            <a:r>
              <a:rPr lang="en-US" dirty="0" smtClean="0"/>
              <a:t>Investigations Results</a:t>
            </a:r>
            <a:endParaRPr lang="en-US" dirty="0"/>
          </a:p>
          <a:p>
            <a:pPr lvl="1"/>
            <a:r>
              <a:rPr lang="en-US" dirty="0" smtClean="0"/>
              <a:t>Bills</a:t>
            </a: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21760"/>
          </a:xfrm>
        </p:spPr>
        <p:txBody>
          <a:bodyPr>
            <a:normAutofit fontScale="90000"/>
          </a:bodyPr>
          <a:lstStyle/>
          <a:p>
            <a:r>
              <a:rPr lang="en-IN" sz="4000" dirty="0" smtClean="0"/>
              <a:t>Conceptual Diagram</a:t>
            </a:r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2043730" y="1764766"/>
            <a:ext cx="1756631" cy="801905"/>
          </a:xfrm>
          <a:prstGeom prst="roundRect">
            <a:avLst/>
          </a:prstGeom>
          <a:solidFill>
            <a:srgbClr val="FF52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Arial Narrow" panose="020B0606020202030204" pitchFamily="34" charset="0"/>
              </a:rPr>
              <a:t>User Profile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143500" y="1762125"/>
            <a:ext cx="1759585" cy="805180"/>
          </a:xfrm>
          <a:prstGeom prst="roundRect">
            <a:avLst/>
          </a:prstGeom>
          <a:solidFill>
            <a:srgbClr val="F15F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Arial Narrow" panose="020B0606020202030204" pitchFamily="34" charset="0"/>
              </a:rPr>
              <a:t>Family Member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143528" y="3387252"/>
            <a:ext cx="1756631" cy="801905"/>
          </a:xfrm>
          <a:prstGeom prst="roundRect">
            <a:avLst/>
          </a:prstGeom>
          <a:solidFill>
            <a:srgbClr val="FF52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Arial Narrow" panose="020B0606020202030204" pitchFamily="34" charset="0"/>
              </a:rPr>
              <a:t>Patient &amp; Hospital Map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749093" y="3381599"/>
            <a:ext cx="1756631" cy="801905"/>
          </a:xfrm>
          <a:prstGeom prst="roundRect">
            <a:avLst/>
          </a:prstGeom>
          <a:solidFill>
            <a:srgbClr val="FF52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Arial Narrow" panose="020B0606020202030204" pitchFamily="34" charset="0"/>
              </a:rPr>
              <a:t>Hospital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038183" y="5339867"/>
            <a:ext cx="1756631" cy="801905"/>
          </a:xfrm>
          <a:prstGeom prst="roundRect">
            <a:avLst/>
          </a:prstGeom>
          <a:solidFill>
            <a:srgbClr val="FF52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Arial Narrow" panose="020B0606020202030204" pitchFamily="34" charset="0"/>
              </a:rPr>
              <a:t>Appointment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749094" y="5339866"/>
            <a:ext cx="1756631" cy="801905"/>
          </a:xfrm>
          <a:prstGeom prst="roundRect">
            <a:avLst/>
          </a:prstGeom>
          <a:solidFill>
            <a:srgbClr val="FF52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Arial Narrow" panose="020B0606020202030204" pitchFamily="34" charset="0"/>
              </a:rPr>
              <a:t>Reminder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43527" y="5348320"/>
            <a:ext cx="1756631" cy="801905"/>
          </a:xfrm>
          <a:prstGeom prst="roundRect">
            <a:avLst/>
          </a:prstGeom>
          <a:solidFill>
            <a:srgbClr val="FF52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Arial Narrow" panose="020B0606020202030204" pitchFamily="34" charset="0"/>
              </a:rPr>
              <a:t>Visit Record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cxnSp>
        <p:nvCxnSpPr>
          <p:cNvPr id="4" name="Straight Connector 3"/>
          <p:cNvCxnSpPr>
            <a:stCxn id="9" idx="1"/>
            <a:endCxn id="7" idx="3"/>
          </p:cNvCxnSpPr>
          <p:nvPr/>
        </p:nvCxnSpPr>
        <p:spPr>
          <a:xfrm flipH="1">
            <a:off x="3799805" y="2164976"/>
            <a:ext cx="1343660" cy="1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726446" y="1902400"/>
            <a:ext cx="474232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..n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94815" y="1904186"/>
            <a:ext cx="4742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274861" y="3520941"/>
            <a:ext cx="4742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100254" y="3106320"/>
            <a:ext cx="4742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..n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044453" y="2564014"/>
            <a:ext cx="4742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940019" y="3520941"/>
            <a:ext cx="4742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1..n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922045" y="5078256"/>
            <a:ext cx="4742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1..n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5" name="Straight Connector 114"/>
          <p:cNvCxnSpPr>
            <a:stCxn id="9" idx="2"/>
            <a:endCxn id="10" idx="0"/>
          </p:cNvCxnSpPr>
          <p:nvPr/>
        </p:nvCxnSpPr>
        <p:spPr>
          <a:xfrm flipH="1">
            <a:off x="6021781" y="2567198"/>
            <a:ext cx="1905" cy="819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0" idx="2"/>
            <a:endCxn id="16" idx="0"/>
          </p:cNvCxnSpPr>
          <p:nvPr/>
        </p:nvCxnSpPr>
        <p:spPr>
          <a:xfrm flipH="1">
            <a:off x="6021843" y="4189157"/>
            <a:ext cx="1" cy="1159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0" idx="3"/>
            <a:endCxn id="11" idx="1"/>
          </p:cNvCxnSpPr>
          <p:nvPr/>
        </p:nvCxnSpPr>
        <p:spPr>
          <a:xfrm flipV="1">
            <a:off x="6900159" y="3782552"/>
            <a:ext cx="1848934" cy="5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Elbow Connector 120"/>
          <p:cNvCxnSpPr>
            <a:stCxn id="10" idx="1"/>
            <a:endCxn id="12" idx="0"/>
          </p:cNvCxnSpPr>
          <p:nvPr/>
        </p:nvCxnSpPr>
        <p:spPr>
          <a:xfrm rot="10800000" flipV="1">
            <a:off x="2916500" y="3788205"/>
            <a:ext cx="2227029" cy="155166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Elbow Connector 122"/>
          <p:cNvCxnSpPr/>
          <p:nvPr/>
        </p:nvCxnSpPr>
        <p:spPr>
          <a:xfrm>
            <a:off x="6900158" y="4082633"/>
            <a:ext cx="1848935" cy="166663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4780456" y="3821023"/>
            <a:ext cx="4742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773296" y="4183504"/>
            <a:ext cx="4742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6900158" y="4183504"/>
            <a:ext cx="4742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5526317" y="5096832"/>
            <a:ext cx="4742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1..n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8280239" y="5868257"/>
            <a:ext cx="4742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1..n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7845" y="3368040"/>
            <a:ext cx="1765935" cy="802005"/>
          </a:xfrm>
          <a:prstGeom prst="roundRect">
            <a:avLst>
              <a:gd name="adj" fmla="val 20355"/>
            </a:avLst>
          </a:prstGeom>
          <a:solidFill>
            <a:srgbClr val="F15F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400" dirty="0">
                <a:latin typeface="Arial Narrow" panose="020B0606020202030204" pitchFamily="34" charset="0"/>
              </a:rPr>
              <a:t>Attachments</a:t>
            </a:r>
            <a:endParaRPr lang="en-IN" altLang="en-US" sz="1400" dirty="0">
              <a:latin typeface="Arial Narrow" panose="020B0606020202030204" pitchFamily="34" charset="0"/>
            </a:endParaRPr>
          </a:p>
        </p:txBody>
      </p:sp>
      <p:cxnSp>
        <p:nvCxnSpPr>
          <p:cNvPr id="18" name="Elbow Connector 17"/>
          <p:cNvCxnSpPr/>
          <p:nvPr/>
        </p:nvCxnSpPr>
        <p:spPr>
          <a:xfrm rot="10800000" flipV="1">
            <a:off x="2303145" y="2564130"/>
            <a:ext cx="2950845" cy="1104900"/>
          </a:xfrm>
          <a:prstGeom prst="bentConnector3">
            <a:avLst>
              <a:gd name="adj1" fmla="val 4998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4"/>
          <p:cNvSpPr txBox="1"/>
          <p:nvPr/>
        </p:nvSpPr>
        <p:spPr>
          <a:xfrm>
            <a:off x="2303780" y="3368040"/>
            <a:ext cx="54737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0..n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4"/>
          <p:cNvSpPr txBox="1"/>
          <p:nvPr/>
        </p:nvSpPr>
        <p:spPr>
          <a:xfrm>
            <a:off x="5143641" y="2645985"/>
            <a:ext cx="474232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Elbow Connector 21"/>
          <p:cNvCxnSpPr>
            <a:stCxn id="3" idx="2"/>
            <a:endCxn id="16" idx="2"/>
          </p:cNvCxnSpPr>
          <p:nvPr/>
        </p:nvCxnSpPr>
        <p:spPr>
          <a:xfrm rot="5400000" flipV="1">
            <a:off x="2731135" y="2859405"/>
            <a:ext cx="1980565" cy="4600575"/>
          </a:xfrm>
          <a:prstGeom prst="bentConnector3">
            <a:avLst>
              <a:gd name="adj1" fmla="val 1120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4"/>
          <p:cNvSpPr txBox="1"/>
          <p:nvPr/>
        </p:nvSpPr>
        <p:spPr>
          <a:xfrm>
            <a:off x="1490980" y="4170045"/>
            <a:ext cx="54737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0..n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4"/>
          <p:cNvSpPr txBox="1"/>
          <p:nvPr/>
        </p:nvSpPr>
        <p:spPr>
          <a:xfrm>
            <a:off x="6064250" y="6129655"/>
            <a:ext cx="54737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sz="11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Sampath\Downloads\Sign-up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908" y="1245870"/>
            <a:ext cx="6212892" cy="521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267510" y="452660"/>
            <a:ext cx="8911687" cy="621760"/>
          </a:xfrm>
        </p:spPr>
        <p:txBody>
          <a:bodyPr>
            <a:normAutofit fontScale="90000"/>
          </a:bodyPr>
          <a:lstStyle/>
          <a:p>
            <a:r>
              <a:rPr lang="en-IN" sz="4000" dirty="0" smtClean="0"/>
              <a:t>Sequence Diagram: Sign-up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Sampath\Downloads\Sign-in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1162049"/>
            <a:ext cx="5524500" cy="510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67510" y="281210"/>
            <a:ext cx="8911687" cy="621760"/>
          </a:xfrm>
        </p:spPr>
        <p:txBody>
          <a:bodyPr>
            <a:normAutofit fontScale="90000"/>
          </a:bodyPr>
          <a:lstStyle/>
          <a:p>
            <a:r>
              <a:rPr lang="en-IN" sz="4000" dirty="0" smtClean="0"/>
              <a:t>Sequence Diagram: Sign-in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67510" y="128810"/>
            <a:ext cx="8911687" cy="621760"/>
          </a:xfrm>
        </p:spPr>
        <p:txBody>
          <a:bodyPr>
            <a:normAutofit fontScale="90000"/>
          </a:bodyPr>
          <a:lstStyle/>
          <a:p>
            <a:r>
              <a:rPr lang="en-IN" sz="4000" dirty="0" smtClean="0"/>
              <a:t>Sequence Diagram: Check for free slots</a:t>
            </a:r>
            <a:endParaRPr lang="en-IN" dirty="0"/>
          </a:p>
        </p:txBody>
      </p:sp>
      <p:pic>
        <p:nvPicPr>
          <p:cNvPr id="3074" name="Picture 2" descr="C:\Users\Sampath\Downloads\Check for Free Slots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107" y="785449"/>
            <a:ext cx="7193893" cy="582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67510" y="128810"/>
            <a:ext cx="8911687" cy="621760"/>
          </a:xfrm>
        </p:spPr>
        <p:txBody>
          <a:bodyPr>
            <a:normAutofit fontScale="90000"/>
          </a:bodyPr>
          <a:lstStyle/>
          <a:p>
            <a:r>
              <a:rPr lang="en-IN" sz="4000" dirty="0" smtClean="0"/>
              <a:t>Sequence Diagram: Book Appointment</a:t>
            </a:r>
            <a:endParaRPr lang="en-IN" dirty="0"/>
          </a:p>
        </p:txBody>
      </p:sp>
      <p:pic>
        <p:nvPicPr>
          <p:cNvPr id="4098" name="Picture 2" descr="C:\Users\Sampath\Downloads\Book Appointment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861" y="800100"/>
            <a:ext cx="8599639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1143</Words>
  <Application>WPS Presentation</Application>
  <PresentationFormat>Custom</PresentationFormat>
  <Paragraphs>164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Wingdings 3</vt:lpstr>
      <vt:lpstr>Arial</vt:lpstr>
      <vt:lpstr>Arial Narrow</vt:lpstr>
      <vt:lpstr>Century Gothic</vt:lpstr>
      <vt:lpstr>Liberation Mono</vt:lpstr>
      <vt:lpstr>Microsoft YaHei</vt:lpstr>
      <vt:lpstr>Arial Unicode MS</vt:lpstr>
      <vt:lpstr>Symbol</vt:lpstr>
      <vt:lpstr>Calibri</vt:lpstr>
      <vt:lpstr>Wisp</vt:lpstr>
      <vt:lpstr>medics Patient App </vt:lpstr>
      <vt:lpstr>Patient App Architecture</vt:lpstr>
      <vt:lpstr>User Profile &amp; Family Member APIs</vt:lpstr>
      <vt:lpstr>Appointment APIs</vt:lpstr>
      <vt:lpstr>Visit Record APIs</vt:lpstr>
      <vt:lpstr>Conceptual Diagram</vt:lpstr>
      <vt:lpstr>Sequence Diagram: Sign-up</vt:lpstr>
      <vt:lpstr>Sequence Diagram: Sign-in</vt:lpstr>
      <vt:lpstr>Sequence Diagram: Check for free slots</vt:lpstr>
      <vt:lpstr>Sequence Diagram: Book Appointment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Monetising Data</dc:title>
  <dc:creator>Amitava Datta</dc:creator>
  <cp:lastModifiedBy>Baij</cp:lastModifiedBy>
  <cp:revision>303</cp:revision>
  <dcterms:created xsi:type="dcterms:W3CDTF">2017-10-04T09:23:00Z</dcterms:created>
  <dcterms:modified xsi:type="dcterms:W3CDTF">2020-07-14T12:53:09Z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